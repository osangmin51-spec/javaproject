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3"/>
          </a:solidFill>
          <a:ln w="12700">
            <a:solidFill>
              <a:srgbClr val="12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" y="548640"/>
            <a:ext cx="73152" cy="5394960"/>
          </a:xfrm>
          <a:prstGeom prst="rect">
            <a:avLst/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7315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D2FF"/>
                </a:solidFill>
              </a:rPr>
              <a:t>개인 프로젝트 발표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896112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Java 프로젝트 모의주식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804672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E5FF"/>
                </a:solidFill>
              </a:rPr>
              <a:t>KIS Open API 기반 모의주식투자 웹앱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68680" y="3977640"/>
            <a:ext cx="3749040" cy="530352"/>
          </a:xfrm>
          <a:prstGeom prst="roundRect">
            <a:avLst>
              <a:gd name="adj" fmla="val 10345"/>
            </a:avLst>
          </a:prstGeom>
          <a:solidFill>
            <a:srgbClr val="1F5FB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114800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KIS Open API · MySQL · Java HttpServer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498080" y="914400"/>
            <a:ext cx="3840480" cy="4297680"/>
          </a:xfrm>
          <a:prstGeom prst="rect">
            <a:avLst/>
          </a:prstGeom>
          <a:solidFill>
            <a:srgbClr val="182B45">
              <a:alpha val="90000"/>
            </a:srgbClr>
          </a:solidFill>
          <a:ln w="12700">
            <a:solidFill>
              <a:srgbClr val="2841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18120" y="1143000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28432" y="1252728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시장 시세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818120" y="1801368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1F5FBF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28432" y="191109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종목 상세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18120" y="2459736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28432" y="2569464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검색/즐겨찾기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118104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28432" y="3227832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매수/매도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18120" y="3776472"/>
            <a:ext cx="3154680" cy="420624"/>
          </a:xfrm>
          <a:prstGeom prst="roundRect">
            <a:avLst>
              <a:gd name="adj" fmla="val 10870"/>
            </a:avLst>
          </a:prstGeom>
          <a:solidFill>
            <a:srgbClr val="243A58"/>
          </a:solidFill>
          <a:ln w="12700">
            <a:solidFill>
              <a:srgbClr val="38516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28432" y="38862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포트폴리오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18120" y="4645152"/>
            <a:ext cx="329184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실제 시세를 보고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모의 매매를 연습하는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D7E5FF"/>
                </a:solidFill>
              </a:rPr>
              <a:t>Java 웹앱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6012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0332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순서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69464" y="960120"/>
            <a:ext cx="395020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42616" y="10332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발표 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519672" y="960120"/>
            <a:ext cx="504748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0332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핵심 질문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65354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7266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569464" y="165354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42616" y="172669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왜 만들었는가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519672" y="165354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92824" y="172669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과제용 모의투자에서 무엇을 보여줄 것인가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34696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4201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2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569464" y="234696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42616" y="242011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사용자는 어떻게 쓰는가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519672" y="234696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92824" y="242011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종목을 보고 바로 매매할 수 있는가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304038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31135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3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569464" y="304038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42616" y="311353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데이터는 어떻게 흐르는가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6519672" y="304038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92824" y="311353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시세, 저장소, 포트폴리오 계산이 어떻게 연결되는가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73380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8069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569464" y="3733800"/>
            <a:ext cx="395020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42616" y="380695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코드는 어떻게 나뉘는가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519672" y="3733800"/>
            <a:ext cx="504748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92824" y="380695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서버, 서비스, DB, 외부 API, 화면 역할이 분리되는가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594360" y="44272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7512" y="45003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5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569464" y="4427220"/>
            <a:ext cx="395020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42616" y="4500372"/>
            <a:ext cx="380390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어떤 시행착오가 있었는가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519672" y="4427220"/>
            <a:ext cx="504748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92824" y="4500372"/>
            <a:ext cx="490118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실제 개발 중 바꾼 판단은 무엇인가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731520" y="5440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1F5FBF"/>
                </a:solidFill>
              </a:rPr>
              <a:t>발표는 기능 나열보다 사용 흐름과 데이터 흐름을 먼저 설명한 뒤, 그 흐름을 Java 코드가 어떻게 처리하는지 보여주는 순서로 진행한다.</a:t>
            </a:r>
            <a:endParaRPr lang="en-US" sz="13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기반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Open API에서 현재가, 등락률, 거래량을 받아와 모의투자 화면에 반영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343400" y="914400"/>
            <a:ext cx="35661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060704"/>
            <a:ext cx="3236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사용자 매매 흐름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07992" y="1389888"/>
            <a:ext cx="323697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시장 시세에서 종목 클릭 → 상세 확인 → 매수 / 보유 탭에서 매도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092440" y="914400"/>
            <a:ext cx="347472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7032" y="1060704"/>
            <a:ext cx="3145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포트폴리오 손익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57032" y="1389888"/>
            <a:ext cx="3145536" cy="5486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평가금액, 실시간 손익, 수익률을 자동 계산</a:t>
            </a:r>
            <a:endParaRPr lang="en-US" sz="1070" dirty="0"/>
          </a:p>
        </p:txBody>
      </p:sp>
      <p:sp>
        <p:nvSpPr>
          <p:cNvPr id="15" name="Text 13"/>
          <p:cNvSpPr/>
          <p:nvPr/>
        </p:nvSpPr>
        <p:spPr>
          <a:xfrm>
            <a:off x="914400" y="27889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API, 저장소 구조, 소켓 통신, 컬렉션을 하나의 Java 프로젝트 안에서 연결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거래량 상위 종목을 중심으로 사용자가 볼 만한 종목을 먼저 노출</a:t>
            </a:r>
            <a:endParaRPr lang="en-US" sz="1500" dirty="0"/>
          </a:p>
          <a:p>
            <a:r>
              <a:rPr lang="en-US" sz="15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그래프로 단순 매매 입력보다 실제 투자 화면에 가까운 흐름 구현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시스템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웹 UI</a:t>
            </a:r>
            <a:endParaRPr lang="en-US" sz="1030" dirty="0"/>
          </a:p>
        </p:txBody>
      </p:sp>
      <p:sp>
        <p:nvSpPr>
          <p:cNvPr id="8" name="Shape 6"/>
          <p:cNvSpPr/>
          <p:nvPr/>
        </p:nvSpPr>
        <p:spPr>
          <a:xfrm>
            <a:off x="27432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MiniHandler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MiniProject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7086600" y="11887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59752" y="13898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MySqlDatabase</a:t>
            </a:r>
            <a:endParaRPr lang="en-US" sz="1030" dirty="0"/>
          </a:p>
        </p:txBody>
      </p:sp>
      <p:sp>
        <p:nvSpPr>
          <p:cNvPr id="14" name="Shape 12"/>
          <p:cNvSpPr/>
          <p:nvPr/>
        </p:nvSpPr>
        <p:spPr>
          <a:xfrm>
            <a:off x="27432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163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KisQuotePoller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484632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1947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KisQuoteClient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70866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EAF2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597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KIS Open API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484632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1947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2" name="Shape 20"/>
          <p:cNvSpPr/>
          <p:nvPr/>
        </p:nvSpPr>
        <p:spPr>
          <a:xfrm>
            <a:off x="7086600" y="484632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59752" y="504748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실시간 Tick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9144000" y="3291840"/>
            <a:ext cx="164592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240">
            <a:solidFill>
              <a:srgbClr val="1F5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17152" y="3493008"/>
            <a:ext cx="14996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82230"/>
                </a:solidFill>
              </a:rPr>
              <a:t>Broker Socket</a:t>
            </a:r>
            <a:endParaRPr lang="en-US" sz="1030" dirty="0"/>
          </a:p>
        </p:txBody>
      </p:sp>
      <p:sp>
        <p:nvSpPr>
          <p:cNvPr id="26" name="Shape 24"/>
          <p:cNvSpPr/>
          <p:nvPr/>
        </p:nvSpPr>
        <p:spPr>
          <a:xfrm>
            <a:off x="2377440" y="1508760"/>
            <a:ext cx="3657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389120" y="150876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92240" y="15087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389120" y="3611880"/>
            <a:ext cx="45720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492240" y="361188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492240" y="5166360"/>
            <a:ext cx="59436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732520" y="3611880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822960" y="598932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브라우저는 /api/state를 주기적으로 호출하고, 서버는 백그라운드 Thread에서 시세와 포트폴리오 상태를 갱신한다.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구조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868680"/>
            <a:ext cx="3730752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4183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파일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70832" y="868680"/>
            <a:ext cx="7242048" cy="64008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94183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150876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158191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app/MiniProjectApp.java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4370832" y="150876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3984" y="158191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시작점, KIS/DB/소켓 초기화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40080" y="214884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222199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MiniHandler.java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370832" y="214884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43984" y="222199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 요청 라우팅과 API 응답 처리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78892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86207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MiniProject.java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4370832" y="278892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43984" y="286207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계좌, 매매, 포트폴리오, 시세 상태 핵심 로직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640080" y="342900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50215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repository/MySqlDatabase.java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4370832" y="342900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43984" y="350215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연결, 테이블 생성, 데이터 저장/로드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640080" y="406908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14223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external/KisQuotePoller.java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370832" y="406908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43984" y="414223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토큰 발급, 거래량 순위, 현재가 조회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4709160"/>
            <a:ext cx="3730752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478231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domain/StockCategories.java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4370832" y="4709160"/>
            <a:ext cx="7242048" cy="64008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43984" y="478231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업종·테마별 위험 설명 타입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40080" y="5349240"/>
            <a:ext cx="3730752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3232" y="5422392"/>
            <a:ext cx="3584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view/MiniDashboardPage.java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4370832" y="5349240"/>
            <a:ext cx="7242048" cy="64008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43984" y="5422392"/>
            <a:ext cx="70957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HTML/CSS/JavaScript 화면 렌더링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클래스/인터페이스 설계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315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서버 계층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app.MiniProjectApp → controller.MiniHandler → service.MiniProject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요청을 받고 핵심 로직으로 전달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52628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9087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도메인 계층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9087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Member, Stock, Share, TradeLog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회원/종목/거래 상태 관리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275320" y="914400"/>
            <a:ext cx="31089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9912" y="1060704"/>
            <a:ext cx="2779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외부 연동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39912" y="1389888"/>
            <a:ext cx="277977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KisQuoteClient, MockBrokerServer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REST API와 소켓 흐름 처리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73152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9611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CompanyProfile 추상 클래스를 두고 종목별 회사 프로필 클래스가 공통 구조를 상속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2834640"/>
            <a:ext cx="50292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2980944"/>
            <a:ext cx="4700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인터페이스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310128"/>
            <a:ext cx="47000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StockCategoryProfile 인터페이스로 업종별 분류와 위험 설명 규칙을 통일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868680" y="507492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설계 이유: 100개 이상 타입 조건을 맞추면서도 회사 설명과 업종 위험 설명이 실제 종목 상세에 쓰이도록 분리했다.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클래스/라이브러리 구조 상세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822960"/>
            <a:ext cx="1707642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896112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계층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19122" y="822960"/>
            <a:ext cx="3073756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2274" y="896112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주요 클래스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192878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66030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사용 라이브러리 / 문법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94319" y="822960"/>
            <a:ext cx="3301441" cy="698863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67471" y="896112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역할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1521823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" y="1594975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실행/서버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2119122" y="1521823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92274" y="1594975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app.MiniProjectApp, controller.MiniHandler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192878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66030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HttpServer, HttpExchange, Executors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8494319" y="1521823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67471" y="1594975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 시작, URL 라우팅, JSON 응답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11480" y="2220686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" y="2293838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핵심 서비스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119122" y="2220686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192274" y="2293838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MiniProject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5192878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66030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ConcurrentHashMap, ArrayList, Comparator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8494319" y="2220686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67471" y="2293838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매매 처리, 포트폴리오 계산, 시세 상태 관리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411480" y="2919549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" y="2992701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도메인 모델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119122" y="2919549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192274" y="2992701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Member, Stock, Share, TradeLog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5192878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66030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class, record 성격의 데이터 객체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8494319" y="2919549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67471" y="2992701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회원, 종목, 보유 수량, 거래 내역 표현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411480" y="3618411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" y="3691563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시세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2119122" y="3618411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92274" y="3691563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KisQuoteClient, KisQuotePoller, KisWebSocketQuoteClient</a:t>
            </a:r>
            <a:endParaRPr lang="en-US" sz="920" dirty="0"/>
          </a:p>
        </p:txBody>
      </p:sp>
      <p:sp>
        <p:nvSpPr>
          <p:cNvPr id="42" name="Shape 40"/>
          <p:cNvSpPr/>
          <p:nvPr/>
        </p:nvSpPr>
        <p:spPr>
          <a:xfrm>
            <a:off x="5192878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66030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HttpClient, HttpRequest, WebSocket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8494319" y="3618411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67471" y="3691563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REST/WebSocket 시세 연동과 실패 시 전환</a:t>
            </a:r>
            <a:endParaRPr lang="en-US" sz="920" dirty="0"/>
          </a:p>
        </p:txBody>
      </p:sp>
      <p:sp>
        <p:nvSpPr>
          <p:cNvPr id="46" name="Shape 44"/>
          <p:cNvSpPr/>
          <p:nvPr/>
        </p:nvSpPr>
        <p:spPr>
          <a:xfrm>
            <a:off x="411480" y="4317274"/>
            <a:ext cx="1707642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" y="4390426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저장소</a:t>
            </a:r>
            <a:endParaRPr lang="en-US" sz="920" dirty="0"/>
          </a:p>
        </p:txBody>
      </p:sp>
      <p:sp>
        <p:nvSpPr>
          <p:cNvPr id="48" name="Shape 46"/>
          <p:cNvSpPr/>
          <p:nvPr/>
        </p:nvSpPr>
        <p:spPr>
          <a:xfrm>
            <a:off x="2119122" y="4317274"/>
            <a:ext cx="3073756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92274" y="4390426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MySqlDatabase, DatabaseSnapshot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5192878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66030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JDBC, DriverManager</a:t>
            </a:r>
            <a:endParaRPr lang="en-US" sz="920" dirty="0"/>
          </a:p>
        </p:txBody>
      </p:sp>
      <p:sp>
        <p:nvSpPr>
          <p:cNvPr id="52" name="Shape 50"/>
          <p:cNvSpPr/>
          <p:nvPr/>
        </p:nvSpPr>
        <p:spPr>
          <a:xfrm>
            <a:off x="8494319" y="4317274"/>
            <a:ext cx="3301441" cy="698863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567471" y="4390426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테이블 생성, 데이터 로드/저장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411480" y="5016137"/>
            <a:ext cx="1707642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4632" y="5089289"/>
            <a:ext cx="1561338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화면/분류</a:t>
            </a:r>
            <a:endParaRPr lang="en-US" sz="920" dirty="0"/>
          </a:p>
        </p:txBody>
      </p:sp>
      <p:sp>
        <p:nvSpPr>
          <p:cNvPr id="56" name="Shape 54"/>
          <p:cNvSpPr/>
          <p:nvPr/>
        </p:nvSpPr>
        <p:spPr>
          <a:xfrm>
            <a:off x="2119122" y="5016137"/>
            <a:ext cx="3073756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192274" y="5089289"/>
            <a:ext cx="2927452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view.MiniDashboardPage, util.Json, CompanyProfile, StockCategoryProfile</a:t>
            </a:r>
            <a:endParaRPr lang="en-US" sz="920" dirty="0"/>
          </a:p>
        </p:txBody>
      </p:sp>
      <p:sp>
        <p:nvSpPr>
          <p:cNvPr id="58" name="Shape 56"/>
          <p:cNvSpPr/>
          <p:nvPr/>
        </p:nvSpPr>
        <p:spPr>
          <a:xfrm>
            <a:off x="5192878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66030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HTML/CSS/JS, abstract class, interface</a:t>
            </a:r>
            <a:endParaRPr lang="en-US" sz="920" dirty="0"/>
          </a:p>
        </p:txBody>
      </p:sp>
      <p:sp>
        <p:nvSpPr>
          <p:cNvPr id="60" name="Shape 58"/>
          <p:cNvSpPr/>
          <p:nvPr/>
        </p:nvSpPr>
        <p:spPr>
          <a:xfrm>
            <a:off x="8494319" y="5016137"/>
            <a:ext cx="3301441" cy="698863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567471" y="5089289"/>
            <a:ext cx="3155137" cy="5708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웹 화면 생성, JSON 처리, 회사/업종 설명 구조화</a:t>
            </a:r>
            <a:endParaRPr lang="en-US" sz="920" dirty="0"/>
          </a:p>
        </p:txBody>
      </p:sp>
      <p:sp>
        <p:nvSpPr>
          <p:cNvPr id="62" name="Text 60"/>
          <p:cNvSpPr/>
          <p:nvPr/>
        </p:nvSpPr>
        <p:spPr>
          <a:xfrm>
            <a:off x="731520" y="5806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정리해서 말하면 서버, 서비스, 외부 API, DB, 화면 역할을 실제 패키지로 나눴고, 제출용 컴파일도 src/main/java 전체를 기준으로 검증한다.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vs 나의 역할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1975104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9875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15184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88336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내가 주도한 부분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14032" y="914400"/>
            <a:ext cx="4498848" cy="693420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87184" y="9875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AI를 활용한 부분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160782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168097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주제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615184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88336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모의주식투자 웹사이트 방향 결정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7114032" y="160782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87184" y="168097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구현 방식 후보 정리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640080" y="230124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237439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요구사항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2615184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88336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API, 거래량 상위, 그래프/즐겨찾기 요구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114032" y="230124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87184" y="237439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Java 코드 작성 보조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640080" y="299466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306781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UI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615184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88336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불필요한 기능 제거, 종목 클릭 중심 요구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7114032" y="299466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87184" y="306781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HTML/CSS/JS 구현 보조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640080" y="3688080"/>
            <a:ext cx="1975104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376123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문제해결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2615184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88336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이상 지적, MySQL/소켓 구조 요구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114032" y="3688080"/>
            <a:ext cx="4498848" cy="693420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87184" y="376123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원인 분석과 코드 수정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640080" y="4381500"/>
            <a:ext cx="1975104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" y="4454652"/>
            <a:ext cx="1828800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검증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2615184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88336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실행 화면 확인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114032" y="4381500"/>
            <a:ext cx="4498848" cy="693420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7184" y="4454652"/>
            <a:ext cx="4352544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컴파일, API 상태, 문서 정리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868680" y="548640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핵심은 AI가 방향을 정한 것이 아니라, 내가 불편한 점과 프로젝트 목적을 계속 지적하면서 결과를 좁혀간 점이다.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시나리오와 Use Case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0292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1. 웹사이트 접속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283464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38328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9300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2. 거래량 인기 종목 확인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571500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26364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3. 검색/즐겨찾기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8595360" y="14447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0" y="10972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53728" y="13167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4. 종목 클릭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0292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5. 그래프 확인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283464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38328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9300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6. 매수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71500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26364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336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7. 보유 탭에서 매도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595360" y="3273552"/>
            <a:ext cx="411480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144000" y="2926080"/>
            <a:ext cx="23317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5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53728" y="314553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b="1" dirty="0">
                <a:solidFill>
                  <a:srgbClr val="182230"/>
                </a:solidFill>
              </a:rPr>
              <a:t>8. 손익 확인</a:t>
            </a:r>
            <a:endParaRPr lang="en-US" sz="1080" dirty="0"/>
          </a:p>
        </p:txBody>
      </p:sp>
      <p:sp>
        <p:nvSpPr>
          <p:cNvPr id="28" name="Text 26"/>
          <p:cNvSpPr/>
          <p:nvPr/>
        </p:nvSpPr>
        <p:spPr>
          <a:xfrm>
            <a:off x="731520" y="53035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30"/>
                </a:solidFill>
              </a:rPr>
              <a:t>사용자 흐름이 목록에서 아무 종목이나 고르는 방식이 아니라, 실제 투자 앱처럼 종목을 먼저 보고 판단하는 흐름이 되도록 바꿨다.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UI / 화면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상단 요약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현금, 평가액, 총자산, 손익, 수익률 표시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52044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8503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시장 시세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8503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거래량 상위 종목을 10개씩 페이지로 표시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46520" y="914400"/>
            <a:ext cx="2743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11112" y="106070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종목 상세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11112" y="1389888"/>
            <a:ext cx="241401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현재가, 그래프, 매수 입력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9372600" y="914400"/>
            <a:ext cx="2194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37192" y="1060704"/>
            <a:ext cx="1865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보유 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537192" y="1389888"/>
            <a:ext cx="1865376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종목별 매도 수량 입력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2423160"/>
            <a:ext cx="10881360" cy="3017520"/>
          </a:xfrm>
          <a:prstGeom prst="rect">
            <a:avLst/>
          </a:prstGeom>
          <a:solidFill>
            <a:srgbClr val="F6F9FD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시장 시세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1546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검색창 · 즐겨찾기 · 10개 단위 페이지 · 상세/매수 버튼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종목 상세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15468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현재가 · 등락률 · 가격 변화 그래프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</a:rPr>
              <a:t>매수 수량 입력 → 매수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5074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5FBF"/>
                </a:solidFill>
              </a:rPr>
              <a:t>최종 화면은 실제 증권 웹앱처럼 흰 배경, 표 중심 구성, 상승 빨강/하락 파랑 색상 체계를 적용했다.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914400" y="1005840"/>
            <a:ext cx="2273198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078992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단계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87598" y="1005840"/>
            <a:ext cx="8059522" cy="613954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0750" y="1078992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내용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14400" y="1619794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1692946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입력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187598" y="1619794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60750" y="1692946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선택, 즐겨찾기, 매수/매도 수량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914400" y="2233749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2306901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외부 입력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187598" y="2233749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60750" y="2306901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현재가/등락률/거래량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914400" y="2847703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2920855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처리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187598" y="2847703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60750" y="2920855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잔액 확인, 보유 수량 확인, 매매 체결, 손익 계산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914400" y="3461657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87552" y="3534809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저장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187598" y="3461657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60750" y="3534809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members(uid, name, balance) / shares / trade_logs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914400" y="4075611"/>
            <a:ext cx="2273198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7552" y="4148763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주요 컬럼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187598" y="4075611"/>
            <a:ext cx="8059522" cy="613954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60750" y="4148763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purchase_price, trade_type, traded_at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914400" y="4689566"/>
            <a:ext cx="2273198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7552" y="4762718"/>
            <a:ext cx="2126894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출력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187598" y="4689566"/>
            <a:ext cx="8059522" cy="613954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60750" y="4762718"/>
            <a:ext cx="7913218" cy="4859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시세, 종목 상세, 그래프, 포트폴리오, 거래 기록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처리 방식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777240" y="914400"/>
            <a:ext cx="267462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98755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데이터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51860" y="914400"/>
            <a:ext cx="8023860" cy="577215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5012" y="98755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처리 방식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" y="149161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156476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주식 시세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451860" y="149161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5012" y="156476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 현재가 REST API 조회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777240" y="206883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214198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선별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3451860" y="206883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25012" y="214198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기준 상위 종목을 선별해 자동 갱신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777240" y="264604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271919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갱신 범위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451860" y="264604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5012" y="271919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KIS_MARKET_LIMIT 기본 200, 100~300개 제한 / KIS_POLL_LIMIT 기본 100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777240" y="322326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" y="329641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실시간성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3451860" y="322326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5012" y="329641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전체 종목 매초 조회 대신 상위 목록 중심 갱신 + 소켓 구독 구조 실험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777240" y="380047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" y="387362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소켓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3451860" y="380047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5012" y="387362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모의 증권사 서버의 가격 Tick 구독 구조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777240" y="4377690"/>
            <a:ext cx="267462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" y="4450842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사용자 데이터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3451860" y="4377690"/>
            <a:ext cx="8023860" cy="577215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25012" y="4450842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MySQL 테이블에 상시 저장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777240" y="4954905"/>
            <a:ext cx="267462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5028057"/>
            <a:ext cx="252831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가격 그래프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3451860" y="4954905"/>
            <a:ext cx="8023860" cy="577215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5012" y="5028057"/>
            <a:ext cx="7877556" cy="4491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서버가 보관한 최근 가격 히스토리 표시</a:t>
            </a:r>
            <a:endParaRPr lang="en-US" sz="9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달간 시행착오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실제 시세 연동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039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내부 모의 가격과 KIS 응답값이 섞이면서 가격이 이상해 보이는 문제를 확인하고 갱신 흐름을 정리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443484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전체 종목 처리 범위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9943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약 2700개 전체 종목을 계속 갱신하는 대신 거래량 상위 종목 중심으로 현실적인 범위를 선택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8183880" y="91440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48472" y="106070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UI 흐름 개선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48472" y="138988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드롭다운 주문 방식 대신 종목 클릭 → 상세 확인 → 매수, 보유 종목 → 매도 흐름으로 변경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256032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2491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뉴스 기능 제거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2491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기사 품질 편차와 API 키 관리 부담 때문에 모의투자 목적에 맞지 않는 기능은 최종 제외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309360" y="3154680"/>
            <a:ext cx="333756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3300984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DB 저장 전환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3630168"/>
            <a:ext cx="300837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서버를 껐다 켜면 기록이 사라지는 문제를 MySQL 필수 저장 구조로 바꿔 거래 기록을 유지</a:t>
            </a:r>
            <a:endParaRPr lang="en-US" sz="107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클래스 활용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68680" y="960120"/>
            <a:ext cx="10607040" cy="4937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HttpServer: 프레임워크 없이 웹 서버 구현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HttpClient: KIS API 호출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Thread: 백그라운드 시세 갱신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ConcurrentHashMap: 회원/종목 상태 동시 접근 처리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ArrayList, LinkedHashMap, List: 거래 기록, 가격 히스토리, 조회 순서 관리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JDBC DriverManager: MySQL 저장소 연결과 SQL 실행</a:t>
            </a:r>
            <a:endParaRPr lang="en-US" sz="1400" dirty="0"/>
          </a:p>
          <a:p>
            <a:r>
              <a:rPr lang="en-US" sz="1400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LocalDateTime, DateTimeFormatter: 거래 시간과 시세 갱신 시각 표시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코드 흐름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914400"/>
            <a:ext cx="25146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060704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1. 브라우저 요청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" y="1389888"/>
            <a:ext cx="21854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GET /api/state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POST /api/stock/buy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POST /api/stock/sell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3108960" y="1572768"/>
            <a:ext cx="265176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10712" y="914400"/>
            <a:ext cx="25146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75304" y="1060704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2. MiniHandler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75304" y="1389888"/>
            <a:ext cx="21854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URL을 확인하고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MiniProject 메서드 호출</a:t>
            </a:r>
            <a:endParaRPr lang="en-US" sz="1070" dirty="0"/>
          </a:p>
        </p:txBody>
      </p:sp>
      <p:sp>
        <p:nvSpPr>
          <p:cNvPr id="13" name="Shape 11"/>
          <p:cNvSpPr/>
          <p:nvPr/>
        </p:nvSpPr>
        <p:spPr>
          <a:xfrm>
            <a:off x="5925312" y="1572768"/>
            <a:ext cx="265176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227064" y="914400"/>
            <a:ext cx="2514600" cy="1325880"/>
          </a:xfrm>
          <a:prstGeom prst="roundRect">
            <a:avLst>
              <a:gd name="adj" fmla="val 4138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91656" y="1060704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3. MiniProject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91656" y="1389888"/>
            <a:ext cx="21854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잔액 확인 → 수량 확인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보유 주식 갱신 → 거래 기록 추가</a:t>
            </a:r>
            <a:endParaRPr lang="en-US" sz="1070" dirty="0"/>
          </a:p>
        </p:txBody>
      </p:sp>
      <p:sp>
        <p:nvSpPr>
          <p:cNvPr id="17" name="Shape 15"/>
          <p:cNvSpPr/>
          <p:nvPr/>
        </p:nvSpPr>
        <p:spPr>
          <a:xfrm>
            <a:off x="8741664" y="1572768"/>
            <a:ext cx="265176" cy="0"/>
          </a:xfrm>
          <a:prstGeom prst="line">
            <a:avLst/>
          </a:prstGeom>
          <a:noFill/>
          <a:ln w="25400">
            <a:solidFill>
              <a:srgbClr val="1F5FB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43416" y="914400"/>
            <a:ext cx="251460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08008" y="1060704"/>
            <a:ext cx="21854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4. 저장소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208008" y="1389888"/>
            <a:ext cx="2185416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MySQL 테이블에</a:t>
            </a:r>
            <a:endParaRPr lang="en-US" sz="1070" dirty="0"/>
          </a:p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계좌/보유/거래 기록 저장</a:t>
            </a:r>
            <a:endParaRPr lang="en-US" sz="1070" dirty="0"/>
          </a:p>
        </p:txBody>
      </p:sp>
      <p:sp>
        <p:nvSpPr>
          <p:cNvPr id="21" name="Text 19"/>
          <p:cNvSpPr/>
          <p:nvPr/>
        </p:nvSpPr>
        <p:spPr>
          <a:xfrm>
            <a:off x="822960" y="3063240"/>
            <a:ext cx="5166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라우팅 핵심 - MiniHandler.java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3355848"/>
            <a:ext cx="5166360" cy="896112"/>
          </a:xfrm>
          <a:prstGeom prst="roundRect">
            <a:avLst>
              <a:gd name="adj" fmla="val 4082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3483864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"/api/stock/buy" -&gt; project.buyStock(body);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"/api/stock/sell" -&gt; project.sellStock(body);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6263640" y="3063240"/>
            <a:ext cx="5166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매수/저장 핵심 - MiniProject.java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63640" y="3355848"/>
            <a:ext cx="5166360" cy="896112"/>
          </a:xfrm>
          <a:prstGeom prst="roundRect">
            <a:avLst>
              <a:gd name="adj" fmla="val 4082"/>
            </a:avLst>
          </a:prstGeom>
          <a:solidFill>
            <a:srgbClr val="111827"/>
          </a:solidFill>
          <a:ln w="1016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483864"/>
            <a:ext cx="4892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member.shares.compute(stockName, (key, share) -&gt; ...);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logs.add(new TradeLog(member.uid, stockName, quantity, total, "구매"));</a:t>
            </a:r>
            <a:endParaRPr lang="en-US" sz="690" dirty="0"/>
          </a:p>
          <a:p>
            <a:pPr indent="0" marL="0">
              <a:buNone/>
            </a:pPr>
            <a:r>
              <a:rPr lang="en-US" sz="69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saveDatabase();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822960" y="4892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5FBF"/>
                </a:solidFill>
              </a:rPr>
              <a:t>발표에서는 코드 전체를 읽기보다, 웹 요청이 서비스 로직을 거쳐 저장소까지 이어지는 흐름을 설명한다.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667085"/>
                </a:solidFill>
              </a:rPr>
              <a:t>실제 상세 구현은 GitHub의 MiniHandler.java, MiniProject.java, repository/MySqlDatabase.java에서 확인할 수 있다.</a:t>
            </a:r>
            <a:endParaRPr lang="en-US" sz="11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상태와 남은 과제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4008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로그인 제거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과제용 프로젝트라 회원 인증보다 종목 조회와 매매 흐름에 집중하도록 단일 모의 계좌 구조로 단순화</a:t>
            </a:r>
            <a:endParaRPr lang="en-US" sz="1070" dirty="0"/>
          </a:p>
        </p:txBody>
      </p:sp>
      <p:sp>
        <p:nvSpPr>
          <p:cNvPr id="9" name="Shape 7"/>
          <p:cNvSpPr/>
          <p:nvPr/>
        </p:nvSpPr>
        <p:spPr>
          <a:xfrm>
            <a:off x="6263640" y="9144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0607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WebSocket 보완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28232" y="13898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KIS WebSocket 시작/오류 시 REST 폴링으로 자동 전환되도록 코드 보강</a:t>
            </a:r>
            <a:endParaRPr lang="en-US" sz="1070" dirty="0"/>
          </a:p>
        </p:txBody>
      </p:sp>
      <p:sp>
        <p:nvSpPr>
          <p:cNvPr id="12" name="Shape 10"/>
          <p:cNvSpPr/>
          <p:nvPr/>
        </p:nvSpPr>
        <p:spPr>
          <a:xfrm>
            <a:off x="64008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남은 검증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실제 KIS 테스트베드에서 구독 성공 여부와 메시지 필드 순서 확인 필요</a:t>
            </a:r>
            <a:endParaRPr lang="en-US" sz="1070" dirty="0"/>
          </a:p>
        </p:txBody>
      </p:sp>
      <p:sp>
        <p:nvSpPr>
          <p:cNvPr id="15" name="Shape 13"/>
          <p:cNvSpPr/>
          <p:nvPr/>
        </p:nvSpPr>
        <p:spPr>
          <a:xfrm>
            <a:off x="6263640" y="25146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26609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구조 정리 완료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8232" y="29900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src/main/java 아래 app/controller/service/domain/repository/external/view/util 패키지로 물리적 분리</a:t>
            </a:r>
            <a:endParaRPr lang="en-US" sz="107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추가 아이디어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업종별 위험 등급 표시, 개인화 관심종목 추천, 테스트 코드 보강</a:t>
            </a:r>
            <a:endParaRPr lang="en-US" sz="1070" dirty="0"/>
          </a:p>
        </p:txBody>
      </p:sp>
      <p:sp>
        <p:nvSpPr>
          <p:cNvPr id="21" name="Shape 19"/>
          <p:cNvSpPr/>
          <p:nvPr/>
        </p:nvSpPr>
        <p:spPr>
          <a:xfrm>
            <a:off x="6263640" y="4114800"/>
            <a:ext cx="5257800" cy="1097280"/>
          </a:xfrm>
          <a:prstGeom prst="roundRect">
            <a:avLst>
              <a:gd name="adj" fmla="val 5000"/>
            </a:avLst>
          </a:prstGeom>
          <a:solidFill>
            <a:srgbClr val="EAF2FF"/>
          </a:solidFill>
          <a:ln w="12700">
            <a:solidFill>
              <a:srgbClr val="D7DE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4261104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문서 정합성 완료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28232" y="4590288"/>
            <a:ext cx="4928616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indent="0" marL="0">
              <a:buNone/>
            </a:pPr>
            <a:r>
              <a:rPr lang="en-US" sz="1070" dirty="0">
                <a:solidFill>
                  <a:srgbClr val="182230"/>
                </a:solidFill>
              </a:rPr>
              <a:t>PPT, 보고서, README가 실제 코드 구조와 같은 용어를 쓰도록 최종 정리</a:t>
            </a:r>
            <a:endParaRPr lang="en-US" sz="107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828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F5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137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영상 구성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594360"/>
            <a:ext cx="11521440" cy="0"/>
          </a:xfrm>
          <a:prstGeom prst="line">
            <a:avLst/>
          </a:prstGeom>
          <a:noFill/>
          <a:ln w="12700">
            <a:solidFill>
              <a:srgbClr val="D7D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6547104"/>
            <a:ext cx="7680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7A8797"/>
                </a:solidFill>
              </a:rPr>
              <a:t>Java 프로젝트 모의주식 | KIS Open API · MySQL · 소켓 기반 모의투자 웹앱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594360" y="868680"/>
            <a:ext cx="1152144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94183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구간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46504" y="868680"/>
            <a:ext cx="230428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19656" y="941832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보여줄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50792" y="868680"/>
            <a:ext cx="2944368" cy="585216"/>
          </a:xfrm>
          <a:prstGeom prst="rect">
            <a:avLst/>
          </a:prstGeom>
          <a:solidFill>
            <a:srgbClr val="122033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23944" y="941832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말할 내용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1453896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" y="1527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0~4초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746504" y="1453896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19656" y="15270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상단 요약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4050792" y="1453896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23944" y="152704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로그인 없이 바로 모의투자 화면이 열리는 점 설명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594360" y="2039112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11226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4~8초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1746504" y="2039112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19656" y="2112264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시장 시세와 검색</a:t>
            </a:r>
            <a:endParaRPr lang="en-US" sz="920" dirty="0"/>
          </a:p>
        </p:txBody>
      </p:sp>
      <p:sp>
        <p:nvSpPr>
          <p:cNvPr id="22" name="Shape 20"/>
          <p:cNvSpPr/>
          <p:nvPr/>
        </p:nvSpPr>
        <p:spPr>
          <a:xfrm>
            <a:off x="4050792" y="2039112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23944" y="2112264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거래량 상위 종목과 검색/즐겨찾기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594360" y="2624328"/>
            <a:ext cx="1152144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26974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8~12초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1746504" y="2624328"/>
            <a:ext cx="230428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19656" y="2697480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 상세/그래프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050792" y="2624328"/>
            <a:ext cx="2944368" cy="585216"/>
          </a:xfrm>
          <a:prstGeom prst="rect">
            <a:avLst/>
          </a:prstGeom>
          <a:solidFill>
            <a:srgbClr val="FFFFFF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23944" y="2697480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현재가, 등락률, 그래프가 한 화면에 연결됨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594360" y="3209544"/>
            <a:ext cx="1152144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7512" y="328269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12~16초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746504" y="3209544"/>
            <a:ext cx="230428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19656" y="328269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매수 후 보유 탭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4050792" y="3209544"/>
            <a:ext cx="2944368" cy="585216"/>
          </a:xfrm>
          <a:prstGeom prst="rect">
            <a:avLst/>
          </a:prstGeom>
          <a:solidFill>
            <a:srgbClr val="F6F9FD"/>
          </a:solidFill>
          <a:ln w="7620">
            <a:solidFill>
              <a:srgbClr val="D7DE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23944" y="3282696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182230"/>
                </a:solidFill>
              </a:rPr>
              <a:t>종목을 클릭해 매수하고 손익을 확인</a:t>
            </a:r>
            <a:endParaRPr lang="en-US" sz="920" dirty="0"/>
          </a:p>
        </p:txBody>
      </p:sp>
      <p:sp>
        <p:nvSpPr>
          <p:cNvPr id="36" name="Text 34"/>
          <p:cNvSpPr/>
          <p:nvPr/>
        </p:nvSpPr>
        <p:spPr>
          <a:xfrm>
            <a:off x="731520" y="4343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5FBF"/>
                </a:solidFill>
              </a:rPr>
              <a:t>첨부 영상 파일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31520" y="470916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2230"/>
                </a:solidFill>
              </a:rPr>
              <a:t>deliverables/mock-stock-website-demo.webm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31520" y="52578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</a:rPr>
              <a:t>영상은 코드 설명보다 실제 실행 화면을 중심으로 짧게 보여주는 용도이다.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개인 프로젝트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프로젝트 모의주식</dc:title>
  <dc:subject>개인 프로젝트 발표 자료</dc:subject>
  <dc:creator>Java 모의주식투자 프로젝트</dc:creator>
  <cp:lastModifiedBy>Java 모의주식투자 프로젝트</cp:lastModifiedBy>
  <cp:revision>1</cp:revision>
  <dcterms:created xsi:type="dcterms:W3CDTF">2026-06-15T08:19:20Z</dcterms:created>
  <dcterms:modified xsi:type="dcterms:W3CDTF">2026-06-15T08:19:20Z</dcterms:modified>
</cp:coreProperties>
</file>