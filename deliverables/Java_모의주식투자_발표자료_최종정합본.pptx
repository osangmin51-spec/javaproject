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단계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2167128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9875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52928" y="914400"/>
            <a:ext cx="4117543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9875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 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970471" y="914400"/>
            <a:ext cx="4550969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3623" y="9875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16383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17114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852928" y="16383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7114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미니프로젝트 기능 구현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970471" y="16383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3623" y="17114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 기반 모의주식투자 웹앱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85800" y="23622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24353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데이터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852928" y="23622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24353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내부 샘플/모의 가격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970471" y="23622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3623" y="24353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한국투자증권 KIS 현재가와 거래량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85800" y="30861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" y="31592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852928" y="30861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31592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970471" y="30861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3623" y="31592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+ TSV fallback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85800" y="38100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" y="38831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852928" y="38100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38831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970471" y="38100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3623" y="38831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85800" y="45339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" y="46070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흐름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852928" y="45339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6070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970471" y="45339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3623" y="46070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후 상세 확인과 매매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868680" y="5532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F5FBF"/>
                </a:solidFill>
              </a:rPr>
              <a:t>처음에는 기능 구현 중심이었지만, 최종본은 실제 시세와 저장 구조를 갖춘 모의투자 흐름으로 바뀌었다.</a:t>
            </a:r>
            <a:endParaRPr lang="en-US" sz="13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676656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3971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82396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9711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LocalFileDatabase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MockBrokerServer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가격 Tick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BrokerFeedClient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패키지 구조 다이어그램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0607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app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0392" y="138988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 시작, 포트 설정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2788920" y="91440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53512" y="10607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controller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53512" y="138988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MiniHandler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HTTP 라우팅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4892040" y="91440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56632" y="10607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service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56632" y="138988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매매, 포트폴리오, 시세 상태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1828800" y="278892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93392" y="293522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repository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93392" y="326440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MySqlDatabase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LocalFileDatabase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계좌·보유·거래 저장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4572000" y="278892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293522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external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36592" y="326440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 / Poller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현재가·거래량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7315200" y="278892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9792" y="293522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view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79792" y="326440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MiniDashboardPage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HTML/CSS/JS 생성</a:t>
            </a:r>
            <a:endParaRPr lang="en-US" sz="1070" dirty="0"/>
          </a:p>
        </p:txBody>
      </p:sp>
      <p:sp>
        <p:nvSpPr>
          <p:cNvPr id="23" name="Shape 21"/>
          <p:cNvSpPr/>
          <p:nvPr/>
        </p:nvSpPr>
        <p:spPr>
          <a:xfrm>
            <a:off x="3200400" y="461772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64992" y="476402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domain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64992" y="509320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 / Stock / Share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TradeLog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5943600" y="4617720"/>
            <a:ext cx="1920240" cy="1005840"/>
          </a:xfrm>
          <a:prstGeom prst="roundRect">
            <a:avLst>
              <a:gd name="adj" fmla="val 5455"/>
            </a:avLst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08192" y="476402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util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08192" y="5093208"/>
            <a:ext cx="15910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Json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응답 생성·body 파싱</a:t>
            </a:r>
            <a:endParaRPr lang="en-US" sz="1070" dirty="0"/>
          </a:p>
        </p:txBody>
      </p:sp>
      <p:sp>
        <p:nvSpPr>
          <p:cNvPr id="29" name="Shape 27"/>
          <p:cNvSpPr/>
          <p:nvPr/>
        </p:nvSpPr>
        <p:spPr>
          <a:xfrm>
            <a:off x="2606040" y="1417320"/>
            <a:ext cx="1828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709160" y="1417320"/>
            <a:ext cx="1828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852160" y="1920240"/>
            <a:ext cx="-3063240" cy="86868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52160" y="1920240"/>
            <a:ext cx="-320040" cy="86868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852160" y="1920240"/>
            <a:ext cx="1920240" cy="86868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440680" y="3794760"/>
            <a:ext cx="-1371600" cy="82296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623560" y="3794760"/>
            <a:ext cx="777240" cy="82296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772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요청 흐름: Browser → controller → service → repository/external → JSON 응답 → view 갱신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 / Class Detail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68680"/>
            <a:ext cx="1792224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4183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95144" y="868680"/>
            <a:ext cx="313639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68296" y="941832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31536" y="868680"/>
            <a:ext cx="2800350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04688" y="941832"/>
            <a:ext cx="26540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Java 기능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31886" y="868680"/>
            <a:ext cx="3472434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5038" y="941832"/>
            <a:ext cx="3326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08760"/>
            <a:ext cx="1792224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5819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2295144" y="1508760"/>
            <a:ext cx="313639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68296" y="1581912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431536" y="1508760"/>
            <a:ext cx="2800350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04688" y="1581912"/>
            <a:ext cx="26540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8231886" y="1508760"/>
            <a:ext cx="3472434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038" y="1581912"/>
            <a:ext cx="3326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서버 시작과 API 라우팅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02920" y="2148840"/>
            <a:ext cx="1792224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" y="222199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서비스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2295144" y="2148840"/>
            <a:ext cx="313639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68296" y="2221992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5431536" y="2148840"/>
            <a:ext cx="2800350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04688" y="2221992"/>
            <a:ext cx="26540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8231886" y="2148840"/>
            <a:ext cx="3472434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038" y="2221992"/>
            <a:ext cx="3326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매수/매도, 포트폴리오, 시세 상태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2788920"/>
            <a:ext cx="1792224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286207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295144" y="2788920"/>
            <a:ext cx="313639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68296" y="2862072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LocalFileDatabase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5431536" y="2788920"/>
            <a:ext cx="2800350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04688" y="2862072"/>
            <a:ext cx="26540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Files, Path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8231886" y="2788920"/>
            <a:ext cx="3472434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038" y="2862072"/>
            <a:ext cx="3326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+ TSV fallback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502920" y="3429000"/>
            <a:ext cx="1792224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" y="35021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API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2295144" y="3429000"/>
            <a:ext cx="313639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68296" y="3502152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5431536" y="3429000"/>
            <a:ext cx="2800350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04688" y="3502152"/>
            <a:ext cx="26540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Thread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8231886" y="3429000"/>
            <a:ext cx="3472434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05038" y="3502152"/>
            <a:ext cx="3326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현재가와 거래량 순위 갱신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502920" y="4069080"/>
            <a:ext cx="1792224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" y="414223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2295144" y="4069080"/>
            <a:ext cx="313639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4142232"/>
            <a:ext cx="2990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MiniDashboardPage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431536" y="4069080"/>
            <a:ext cx="2800350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04688" y="4142232"/>
            <a:ext cx="26540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String template, JavaScript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8231886" y="4069080"/>
            <a:ext cx="3472434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05038" y="4142232"/>
            <a:ext cx="3326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검색, 즐겨찾기, 그래프, 주문 UI</a:t>
            </a:r>
            <a:endParaRPr lang="en-US" sz="920" dirty="0"/>
          </a:p>
        </p:txBody>
      </p:sp>
      <p:sp>
        <p:nvSpPr>
          <p:cNvPr id="53" name="Text 51"/>
          <p:cNvSpPr/>
          <p:nvPr/>
        </p:nvSpPr>
        <p:spPr>
          <a:xfrm>
            <a:off x="777240" y="5257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F5FBF"/>
                </a:solidFill>
              </a:rPr>
              <a:t>클래스가 많아 보이지만 발표에서는 계층별 책임을 중심으로 설명한다.</a:t>
            </a:r>
            <a:endParaRPr lang="en-US" sz="12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흐름 / Code Flow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2296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MiniProject.buyStock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3703320" cy="2039112"/>
          </a:xfrm>
          <a:prstGeom prst="roundRect">
            <a:avLst>
              <a:gd name="adj" fmla="val 1794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43584"/>
            <a:ext cx="34290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total =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error;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share == null ? new Share(stockName, quantity, stock.price)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: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"BUY"));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8" name="Text 6"/>
          <p:cNvSpPr/>
          <p:nvPr/>
        </p:nvSpPr>
        <p:spPr>
          <a:xfrm>
            <a:off x="4434840" y="8229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KisQuoteClient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115568"/>
            <a:ext cx="3520440" cy="2039112"/>
          </a:xfrm>
          <a:prstGeom prst="roundRect">
            <a:avLst>
              <a:gd name="adj" fmla="val 1794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243584"/>
            <a:ext cx="324612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/uapi/domestic-stock/v1/quotations/inquire-price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tr_id: FHKST01010100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= output.stck_prpr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= output.prdy_vrss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 = output.acml_vol</a:t>
            </a:r>
            <a:endParaRPr lang="en-US" sz="690" dirty="0"/>
          </a:p>
        </p:txBody>
      </p:sp>
      <p:sp>
        <p:nvSpPr>
          <p:cNvPr id="11" name="Text 9"/>
          <p:cNvSpPr/>
          <p:nvPr/>
        </p:nvSpPr>
        <p:spPr>
          <a:xfrm>
            <a:off x="8183880" y="8229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MiniProject.loadDatabase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83880" y="1115568"/>
            <a:ext cx="3520440" cy="2039112"/>
          </a:xfrm>
          <a:prstGeom prst="roundRect">
            <a:avLst>
              <a:gd name="adj" fmla="val 1794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243584"/>
            <a:ext cx="324612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 = MySqlDatabase.fromEnv();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snapshot = database.load(marketStocks);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catch (Exception ex)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 = LocalFileDatabase.defaultPath();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snapshot = database.load(marketStocks);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4" name="Shape 12"/>
          <p:cNvSpPr/>
          <p:nvPr/>
        </p:nvSpPr>
        <p:spPr>
          <a:xfrm>
            <a:off x="685800" y="3794760"/>
            <a:ext cx="3246120" cy="1051560"/>
          </a:xfrm>
          <a:prstGeom prst="roundRect">
            <a:avLst>
              <a:gd name="adj" fmla="val 5217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394106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주문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0392" y="4270248"/>
            <a:ext cx="291693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현재가×수량 계산 후 잔액과 보유 수량 검증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4480560" y="3794760"/>
            <a:ext cx="32461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394106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45152" y="4270248"/>
            <a:ext cx="291693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순위는 선별용, 표시 가격은 현재가 API 값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8275320" y="3794760"/>
            <a:ext cx="32461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39912" y="394106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저장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39912" y="4270248"/>
            <a:ext cx="291693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 실패 시 LocalFileDatabase가 TSV로 보존</a:t>
            </a:r>
            <a:endParaRPr lang="en-US" sz="10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저장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14400"/>
            <a:ext cx="1975104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8755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테이블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9464" y="914400"/>
            <a:ext cx="4608576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98755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컬럼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78040" y="914400"/>
            <a:ext cx="4389120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51192" y="98755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저장되는 내용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451610"/>
            <a:ext cx="1975104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52476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69464" y="1451610"/>
            <a:ext cx="4608576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42616" y="152476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uid, name, balance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178040" y="1451610"/>
            <a:ext cx="4389120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51192" y="152476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단일 모의 계좌와 현재 현금 잔액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1988820"/>
            <a:ext cx="1975104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06197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shares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69464" y="1988820"/>
            <a:ext cx="4608576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2616" y="206197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member_uid, stock_name, quantity, purchase_price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178040" y="1988820"/>
            <a:ext cx="4389120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51192" y="206197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보유 종목, 수량, 총 매입금액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526030"/>
            <a:ext cx="1975104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59918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trade_logs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69464" y="2526030"/>
            <a:ext cx="4608576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259918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id, member_uid, stock_name, quantity, price, trade_type, traded_at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178040" y="2526030"/>
            <a:ext cx="4389120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51192" y="259918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매수/매도 거래 기록과 거래 시각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1. 매수 요청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5895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브라우저가 /api/stock/buy 호출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265176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92608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9067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2. 잔액 확인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09067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MiniProject가 가격×수량 계산</a:t>
            </a:r>
            <a:endParaRPr lang="en-US" sz="1070" dirty="0"/>
          </a:p>
        </p:txBody>
      </p:sp>
      <p:sp>
        <p:nvSpPr>
          <p:cNvPr id="36" name="Shape 34"/>
          <p:cNvSpPr/>
          <p:nvPr/>
        </p:nvSpPr>
        <p:spPr>
          <a:xfrm>
            <a:off x="498348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25780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2239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3. 보유 갱신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2239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shares 수량과 매입금액 반영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731520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58952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5411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4. 거래 저장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75411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trade_logs에 거래 내역 추가</a:t>
            </a:r>
            <a:endParaRPr lang="en-US" sz="1070" dirty="0"/>
          </a:p>
        </p:txBody>
      </p:sp>
      <p:sp>
        <p:nvSpPr>
          <p:cNvPr id="44" name="Shape 42"/>
          <p:cNvSpPr/>
          <p:nvPr/>
        </p:nvSpPr>
        <p:spPr>
          <a:xfrm>
            <a:off x="964692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92124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8583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5. 화면 갱신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8583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/api/state로 평가금액과 손익 표시</a:t>
            </a:r>
            <a:endParaRPr lang="en-US" sz="1070" dirty="0"/>
          </a:p>
        </p:txBody>
      </p:sp>
      <p:sp>
        <p:nvSpPr>
          <p:cNvPr id="48" name="Text 46"/>
          <p:cNvSpPr/>
          <p:nvPr/>
        </p:nvSpPr>
        <p:spPr>
          <a:xfrm>
            <a:off x="822960" y="5806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F5FBF"/>
                </a:solidFill>
              </a:rPr>
              <a:t>평균단가는 DB에 따로 저장하지 않고 purchase_price / quantity로 계산한다. MySQL 실패 시 같은 데이터를 data/local-database.tsv에 저장한다.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화면과 UI 캡처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0160">
            <a:solidFill>
              <a:srgbClr val="D7DEEA"/>
            </a:solidFill>
            <a:prstDash val="solid"/>
          </a:ln>
        </p:spPr>
      </p:sp>
      <p:pic>
        <p:nvPicPr>
          <p:cNvPr id="6" name="Image 0" descr="C:\Users\user\Documents\Codex\2026-05-19\100\deliverables\ui-screenshots\ui-crop-01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33272"/>
            <a:ext cx="2606040" cy="1481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10972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시장 시세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3474720" y="1490472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82230"/>
                </a:solidFill>
              </a:rPr>
              <a:t>거래량 상위 종목을 10개 단위 페이지로 확인</a:t>
            </a:r>
            <a:endParaRPr lang="en-US" sz="1020" dirty="0"/>
          </a:p>
        </p:txBody>
      </p:sp>
      <p:sp>
        <p:nvSpPr>
          <p:cNvPr id="9" name="Shape 6"/>
          <p:cNvSpPr/>
          <p:nvPr/>
        </p:nvSpPr>
        <p:spPr>
          <a:xfrm>
            <a:off x="6355080" y="86868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0160">
            <a:solidFill>
              <a:srgbClr val="D7DEEA"/>
            </a:solidFill>
            <a:prstDash val="solid"/>
          </a:ln>
        </p:spPr>
      </p:sp>
      <p:pic>
        <p:nvPicPr>
          <p:cNvPr id="10" name="Image 1" descr="C:\Users\user\Documents\Codex\2026-05-19\100\deliverables\ui-screenshots\ui-crop-04-search-favor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33272"/>
            <a:ext cx="2606040" cy="14813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235440" y="10972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검색 / 즐겨찾기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235440" y="1490472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82230"/>
                </a:solidFill>
              </a:rPr>
              <a:t>종목코드 검색과 별표 기반 관심종목 등록</a:t>
            </a:r>
            <a:endParaRPr lang="en-US" sz="1020" dirty="0"/>
          </a:p>
        </p:txBody>
      </p:sp>
      <p:sp>
        <p:nvSpPr>
          <p:cNvPr id="13" name="Shape 9"/>
          <p:cNvSpPr/>
          <p:nvPr/>
        </p:nvSpPr>
        <p:spPr>
          <a:xfrm>
            <a:off x="594360" y="365760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0160">
            <a:solidFill>
              <a:srgbClr val="D7DEEA"/>
            </a:solidFill>
            <a:prstDash val="solid"/>
          </a:ln>
        </p:spPr>
      </p:sp>
      <p:pic>
        <p:nvPicPr>
          <p:cNvPr id="14" name="Image 2" descr="C:\Users\user\Documents\Codex\2026-05-19\100\deliverables\ui-screenshots\ui-crop-02-detail-ord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22192"/>
            <a:ext cx="2606040" cy="14813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74720" y="38862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종목 상세 / 주문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3474720" y="4279392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82230"/>
                </a:solidFill>
              </a:rPr>
              <a:t>현재가, 등락률, 그래프 확인 후 매수</a:t>
            </a:r>
            <a:endParaRPr lang="en-US" sz="1020" dirty="0"/>
          </a:p>
        </p:txBody>
      </p:sp>
      <p:sp>
        <p:nvSpPr>
          <p:cNvPr id="17" name="Shape 12"/>
          <p:cNvSpPr/>
          <p:nvPr/>
        </p:nvSpPr>
        <p:spPr>
          <a:xfrm>
            <a:off x="6355080" y="365760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0160">
            <a:solidFill>
              <a:srgbClr val="D7DEEA"/>
            </a:solidFill>
            <a:prstDash val="solid"/>
          </a:ln>
        </p:spPr>
      </p:sp>
      <p:pic>
        <p:nvPicPr>
          <p:cNvPr id="18" name="Image 3" descr="C:\Users\user\Documents\Codex\2026-05-19\100\deliverables\ui-screenshots\ui-crop-03-portfol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822192"/>
            <a:ext cx="2606040" cy="148132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35440" y="38862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포트폴리오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9235440" y="4279392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82230"/>
                </a:solidFill>
              </a:rPr>
              <a:t>보유 종목, 평가금액, 손익률, 매도 흐름</a:t>
            </a:r>
            <a:endParaRPr lang="en-US" sz="1020" dirty="0"/>
          </a:p>
        </p:txBody>
      </p:sp>
      <p:sp>
        <p:nvSpPr>
          <p:cNvPr id="21" name="Text 15"/>
          <p:cNvSpPr/>
          <p:nvPr/>
        </p:nvSpPr>
        <p:spPr>
          <a:xfrm>
            <a:off x="777240" y="61722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BF"/>
                </a:solidFill>
              </a:rPr>
              <a:t>말로 설명하던 UI 흐름을 실제 화면 캡처로 보여주면 사용자가 어떤 순서로 투자 연습을 하는지 바로 이해할 수 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REST 호출 실패 뒤 내장 모의 시세가 가격을 덮는 문제를 찾아 KIS 출처 종목은 모의 Tick이 덮지 못하게 수정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우선 저장과 TSV fallback 구조로 보완</a:t>
            </a:r>
            <a:endParaRPr lang="en-US" sz="10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시세 연동 여부 확인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91440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/api/state 응답에서 확인하는 값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207008"/>
            <a:ext cx="5212080" cy="1856232"/>
          </a:xfrm>
          <a:prstGeom prst="roundRect">
            <a:avLst>
              <a:gd name="adj" fmla="val 1970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35024"/>
            <a:ext cx="493776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"broker":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"source": "한국투자증권 KIS REST API",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"protocol": "KIS REST API"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"quoteSource": "한국투자증권 KIS"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6172200" y="914400"/>
            <a:ext cx="1337310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45352" y="987552"/>
            <a:ext cx="119100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상황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09510" y="914400"/>
            <a:ext cx="1765249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2662" y="987552"/>
            <a:ext cx="1618945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동작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274759" y="914400"/>
            <a:ext cx="2246681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47911" y="987552"/>
            <a:ext cx="2100377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때 설명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1451610"/>
            <a:ext cx="1337310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524762"/>
            <a:ext cx="119100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환경변수 있음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509510" y="1451610"/>
            <a:ext cx="1765249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2662" y="1524762"/>
            <a:ext cx="1618945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 API 현재가 사용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274759" y="1451610"/>
            <a:ext cx="2246681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47911" y="1524762"/>
            <a:ext cx="2100377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표시 가격은 현재가 API의 stck_prpr 값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6172200" y="1988820"/>
            <a:ext cx="1337310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45352" y="2061972"/>
            <a:ext cx="119100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환경변수 없음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509510" y="1988820"/>
            <a:ext cx="1765249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2662" y="2061972"/>
            <a:ext cx="1618945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내장 모의 증권사 소켓 사용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9274759" y="1988820"/>
            <a:ext cx="2246681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47911" y="2061972"/>
            <a:ext cx="2100377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API 키 없이도 화면 시연은 가능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172200" y="2526030"/>
            <a:ext cx="1337310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45352" y="2599182"/>
            <a:ext cx="119100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호출 일부 실패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509510" y="2526030"/>
            <a:ext cx="1765249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2662" y="2599182"/>
            <a:ext cx="1618945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REST 폴링 유지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274759" y="2526030"/>
            <a:ext cx="2246681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47911" y="2599182"/>
            <a:ext cx="2100377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출처 종목은 모의 Tick이 덮지 못함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85800" y="352044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" y="366674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검증 결과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" y="399592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 실행 상태: source=KIS REST API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출처 99개, 내장 모의 시세 0개</a:t>
            </a:r>
            <a:endParaRPr lang="en-US" sz="1070" dirty="0"/>
          </a:p>
        </p:txBody>
      </p:sp>
      <p:sp>
        <p:nvSpPr>
          <p:cNvPr id="35" name="Shape 33"/>
          <p:cNvSpPr/>
          <p:nvPr/>
        </p:nvSpPr>
        <p:spPr>
          <a:xfrm>
            <a:off x="4434840" y="352044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99432" y="366674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가격 질문 대응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99432" y="399592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삼성전자 337,000원은 프로젝트가 만든 값이 아니라 KIS 응답 stck_prpr 원문값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8183880" y="352044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48472" y="366674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혼란 방지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48472" y="399592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브로커 source와 종목별 quoteSource를 함께 보면 실제/모의 모드 구분 가능</a:t>
            </a:r>
            <a:endParaRPr lang="en-US" sz="10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변수 설정과 실행 방법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1975104" cy="44805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418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9464" y="868680"/>
            <a:ext cx="4169664" cy="44805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9418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환경변수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39128" y="868680"/>
            <a:ext cx="4828032" cy="44805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941832"/>
            <a:ext cx="4681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316736"/>
            <a:ext cx="1975104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389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69464" y="1316736"/>
            <a:ext cx="4169664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42616" y="13898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KIS_APP_KEY / KIS_APP_SECRET / KIS_BASE_URL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739128" y="1316736"/>
            <a:ext cx="4828032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1389888"/>
            <a:ext cx="4681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한국투자증권 현재가·거래량 조회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1764792"/>
            <a:ext cx="1975104" cy="44805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18379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69464" y="1764792"/>
            <a:ext cx="4169664" cy="44805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2616" y="1837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/ KIS_POLL_LIMIT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739128" y="1764792"/>
            <a:ext cx="4828032" cy="44805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1837944"/>
            <a:ext cx="4681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순위 조회와 현재가 폴링 대상 수 조절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212848"/>
            <a:ext cx="1975104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69464" y="2212848"/>
            <a:ext cx="4169664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2286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MYSQL_URL / MYSQL_USER / MYSQL_PASSWORD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739128" y="2212848"/>
            <a:ext cx="4828032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2286000"/>
            <a:ext cx="4681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보유 종목, 거래 기록 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2660904"/>
            <a:ext cx="1975104" cy="44805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27340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WebSocket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569464" y="2660904"/>
            <a:ext cx="4169664" cy="44805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42616" y="273405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KIS_USE_WEBSOCKET / KIS_WS_URL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739128" y="2660904"/>
            <a:ext cx="4828032" cy="44805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12280" y="2734056"/>
            <a:ext cx="4681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 체결 구독 시도 후 실패 시 REST 전환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85800" y="3429000"/>
            <a:ext cx="562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PowerShell 실행 예시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85800" y="3721608"/>
            <a:ext cx="5623560" cy="1993392"/>
          </a:xfrm>
          <a:prstGeom prst="roundRect">
            <a:avLst>
              <a:gd name="adj" fmla="val 1835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3849624"/>
            <a:ext cx="53492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$env:KIS_APP_KEY="발급받은_APP_KEY"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$env:KIS_APP_SECRET="발급받은_APP_SECRET"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$env:MYSQL_URL="jdbc:mysql://localhost:3306/mock_stock"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$env:MYSQL_USER="root"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MYSQL_PASSWORD는 계정에 비밀번호가 있을 때만 설정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-cp "out;lib/*" app.MiniProjectApp 8080</a:t>
            </a:r>
            <a:endParaRPr lang="en-US" sz="690" dirty="0"/>
          </a:p>
        </p:txBody>
      </p:sp>
      <p:sp>
        <p:nvSpPr>
          <p:cNvPr id="38" name="Shape 36"/>
          <p:cNvSpPr/>
          <p:nvPr/>
        </p:nvSpPr>
        <p:spPr>
          <a:xfrm>
            <a:off x="6629400" y="3429000"/>
            <a:ext cx="4892040" cy="1005840"/>
          </a:xfrm>
          <a:prstGeom prst="roundRect">
            <a:avLst>
              <a:gd name="adj" fmla="val 5455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93992" y="3575304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현재 최종본 기준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793992" y="3904488"/>
            <a:ext cx="45628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MySQL을 먼저 시도하고, 환경변수 누락 또는 연결 실패 시 data/local-database.tsv로 전환한다.</a:t>
            </a:r>
            <a:endParaRPr lang="en-US" sz="1070" dirty="0"/>
          </a:p>
        </p:txBody>
      </p:sp>
      <p:sp>
        <p:nvSpPr>
          <p:cNvPr id="41" name="Shape 39"/>
          <p:cNvSpPr/>
          <p:nvPr/>
        </p:nvSpPr>
        <p:spPr>
          <a:xfrm>
            <a:off x="6629400" y="4709160"/>
            <a:ext cx="48920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93992" y="4855464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KIS 키가 없을 때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793992" y="5184648"/>
            <a:ext cx="456285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시세는 내장 모의 증권사 소켓으로 전환된다. 저장은 MySQL 우선 + TSV fallback 구조다.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/ 검증 결과 요약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2852928" cy="5791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41832"/>
            <a:ext cx="270662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검증 항목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47288" y="868680"/>
            <a:ext cx="3291840" cy="5791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941832"/>
            <a:ext cx="3145536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결과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39128" y="868680"/>
            <a:ext cx="4828032" cy="5791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941832"/>
            <a:ext cx="4681728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의미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447800"/>
            <a:ext cx="2852928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520952"/>
            <a:ext cx="270662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컴파일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447288" y="1447800"/>
            <a:ext cx="3291840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520952"/>
            <a:ext cx="3145536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javac -encoding UTF-8 통과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739128" y="1447800"/>
            <a:ext cx="4828032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1520952"/>
            <a:ext cx="4681728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패키지 분리 후에도 전체 소스 컴파일 가능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026920"/>
            <a:ext cx="2852928" cy="5791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100072"/>
            <a:ext cx="270662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/api/state 응답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447288" y="2026920"/>
            <a:ext cx="3291840" cy="5791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100072"/>
            <a:ext cx="3145536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200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739128" y="2026920"/>
            <a:ext cx="4828032" cy="5791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2100072"/>
            <a:ext cx="4681728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웹앱 상태 JSON 정상 제공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606040"/>
            <a:ext cx="2852928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679192"/>
            <a:ext cx="270662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시세 출처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3447288" y="2606040"/>
            <a:ext cx="3291840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20440" y="2679192"/>
            <a:ext cx="3145536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99개 / 내장 모의 0개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739128" y="2606040"/>
            <a:ext cx="4828032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2679192"/>
            <a:ext cx="4681728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 실행 화면은 KIS REST API 기준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185160"/>
            <a:ext cx="2852928" cy="5791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258312"/>
            <a:ext cx="270662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파싱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447288" y="3185160"/>
            <a:ext cx="3291840" cy="5791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0440" y="3258312"/>
            <a:ext cx="3145536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순위 가격 미사용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739128" y="3185160"/>
            <a:ext cx="4828032" cy="5791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12280" y="3258312"/>
            <a:ext cx="4681728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표시 가격은 inquire-price의 stck_prpr 사용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94360" y="3764280"/>
            <a:ext cx="2852928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3837432"/>
            <a:ext cx="2706624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시연 영상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3447288" y="3764280"/>
            <a:ext cx="3291840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0440" y="3837432"/>
            <a:ext cx="3145536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약 35초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739128" y="3764280"/>
            <a:ext cx="4828032" cy="5791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3837432"/>
            <a:ext cx="4681728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검색, 즐겨찾기, 매수, 보유, 매도 흐름 포함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77240" y="48006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25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기준은 화면만 보는 것이 아니라 API 응답, quoteSource, 컴파일 결과를 함께 확인했다.</a:t>
            </a:r>
            <a:endParaRPr lang="en-US" sz="1250" dirty="0"/>
          </a:p>
          <a:p>
            <a:r>
              <a:rPr lang="en-US" sz="125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호출 제한이나 WebSocket 실환경 구독은 향후 별도 테스트 항목으로 남긴다.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개선 로드맵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2523744" cy="6629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41832"/>
            <a:ext cx="23774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개선 항목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18104" y="868680"/>
            <a:ext cx="5157216" cy="6629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91256" y="941832"/>
            <a:ext cx="50109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구체 계획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75320" y="868680"/>
            <a:ext cx="3291840" cy="6629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48472" y="941832"/>
            <a:ext cx="3145536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예상 효과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531620"/>
            <a:ext cx="2523744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604772"/>
            <a:ext cx="23774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WebSocket 실계정 검증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118104" y="1531620"/>
            <a:ext cx="5157216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91256" y="1604772"/>
            <a:ext cx="50109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테스트베드에서 구독 성공, 실패 코드, 메시지 필드 순서 확인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8275320" y="1531620"/>
            <a:ext cx="3291840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8472" y="1604772"/>
            <a:ext cx="3145536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REST 폴링보다 자연스러운 체결가 갱신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194560"/>
            <a:ext cx="2523744" cy="6629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267712"/>
            <a:ext cx="23774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서비스 계층 세분화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118104" y="2194560"/>
            <a:ext cx="5157216" cy="6629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91256" y="2267712"/>
            <a:ext cx="50109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MiniProject를 TradingService, PortfolioService, MarketService로 분리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275320" y="2194560"/>
            <a:ext cx="3291840" cy="6629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48472" y="2267712"/>
            <a:ext cx="3145536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발표 후 유지보수와 기능 추가가 쉬워짐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857500"/>
            <a:ext cx="2523744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930652"/>
            <a:ext cx="23774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테스트 코드 보강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3118104" y="2857500"/>
            <a:ext cx="5157216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91256" y="2930652"/>
            <a:ext cx="50109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매수/매도, DB 저장, API 파싱 단위 테스트 작성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8275320" y="2857500"/>
            <a:ext cx="3291840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48472" y="2930652"/>
            <a:ext cx="3145536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수정 후 회귀 오류를 빠르게 확인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520440"/>
            <a:ext cx="2523744" cy="6629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593592"/>
            <a:ext cx="23774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 위험 표시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118104" y="3520440"/>
            <a:ext cx="5157216" cy="6629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91256" y="3593592"/>
            <a:ext cx="50109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StockCategories 값을 UI 배지로 표시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8275320" y="3520440"/>
            <a:ext cx="3291840" cy="6629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48472" y="3593592"/>
            <a:ext cx="3145536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 때 투자 판단 정보 보강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94360" y="4183380"/>
            <a:ext cx="2523744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4256532"/>
            <a:ext cx="23774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개인화 관심종목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3118104" y="4183380"/>
            <a:ext cx="5157216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91256" y="4256532"/>
            <a:ext cx="50109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즐겨찾기와 거래 기록 기반 추천 기준 설계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8275320" y="4183380"/>
            <a:ext cx="3291840" cy="6629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8472" y="4256532"/>
            <a:ext cx="3145536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단순 목록보다 사용자 중심 화면으로 확장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772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1F5FBF"/>
                </a:solidFill>
              </a:rPr>
              <a:t>로드맵은 기능을 더 넣겠다는 말보다, 현재 한계와 다음 검증 순서를 구체적으로 보여주는 용도다.</a:t>
            </a:r>
            <a:endParaRPr lang="en-US" sz="12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0~8초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웹사이트 접속과 시장 시세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자산 요약과 거래량 상위 종목 확인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8~16초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종목코드 검색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검색창에 005930을 입력해 삼성전자 조회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16~25초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상세 화면과 주문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그래프, 즐겨찾기, 1주 매수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25~35초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보유/기록/매도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보유 탭 확인, 기록 탭 이동, 매도 후 시장 페이지 확인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2026-06-15T16:39:51Z</dcterms:created>
  <dcterms:modified xsi:type="dcterms:W3CDTF">2026-06-15T16:39:51Z</dcterms:modified>
</cp:coreProperties>
</file>